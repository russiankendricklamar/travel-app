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0A0A0A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7620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3474720" cy="34747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81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2D2D"/>
                </a:solidFill>
                <a:latin typeface="Courier New"/>
              </a:defRPr>
            </a:pPr>
            <a:r>
              <a:t>AI-POWERED TRAVEL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8F8F8"/>
                </a:solidFill>
                <a:latin typeface="Arial"/>
              </a:defRPr>
            </a:pPr>
            <a:r>
              <a:t>ULTIMA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2D2D"/>
                </a:solidFill>
                <a:latin typeface="Arial"/>
              </a:defRPr>
            </a:pPr>
            <a:r>
              <a:t>THULE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ourier New"/>
              </a:defRPr>
            </a:pPr>
            <a:r>
              <a:t>iOS-приложение для планирования путешествий с AI,</a:t>
            </a:r>
            <a:br/>
            <a:r>
              <a:t>трекингом рейсов и офлайн-доступом.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1005840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D2D"/>
                </a:solidFill>
                <a:latin typeface="Arial"/>
              </a:defRPr>
            </a:pPr>
            <a:r>
              <a:t>$14.5B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TAM (ГЛОБАЛЬНО)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D2D"/>
                </a:solidFill>
                <a:latin typeface="Arial"/>
              </a:defRPr>
            </a:pPr>
            <a:r>
              <a:t>35+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ФИЧЕЙ ГОТОВО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D2D"/>
                </a:solidFill>
                <a:latin typeface="Arial"/>
              </a:defRPr>
            </a:pPr>
            <a:r>
              <a:t>8x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ROI (ОПТИМ.)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394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2D2D"/>
                </a:solidFill>
                <a:latin typeface="Arial"/>
              </a:defRPr>
            </a:pPr>
            <a:r>
              <a:t>1,500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897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ДО BREAKEVEN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8F8F8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01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0A0A"/>
                </a:solidFill>
                <a:latin typeface="Arial"/>
              </a:defRPr>
            </a:pPr>
            <a:r>
              <a:t>ПЛАНИРОВАНИЕ ПОЕЗДКИ —</a:t>
            </a:r>
            <a:br/>
            <a:r>
              <a:t>ЭТО ХАОС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63240"/>
            <a:ext cx="3383280" cy="2926080"/>
          </a:xfrm>
          <a:prstGeom prst="rect">
            <a:avLst/>
          </a:prstGeom>
          <a:solidFill>
            <a:srgbClr val="E0E0E0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3383280" cy="2926080"/>
          </a:xfrm>
          <a:prstGeom prst="rect">
            <a:avLst/>
          </a:prstGeom>
          <a:solidFill>
            <a:srgbClr val="F8F8F8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2D2D"/>
                </a:solidFill>
                <a:latin typeface="Arial"/>
              </a:defRPr>
            </a:pPr>
            <a: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  <a:latin typeface="Courier New"/>
              </a:defRPr>
            </a:pPr>
            <a:r>
              <a:t>ПРИЛОЖЕНИЙ НА</a:t>
            </a:r>
            <a:br/>
            <a:r>
              <a:t>ПОЕЗДКУ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ourier New"/>
              </a:defRPr>
            </a:pPr>
            <a:r>
              <a:t>Карты, билеты, отели,</a:t>
            </a:r>
            <a:br/>
            <a:r>
              <a:t>заметки, бюджет — всё</a:t>
            </a:r>
            <a:br/>
            <a:r>
              <a:t>разбросано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3383280" cy="2926080"/>
          </a:xfrm>
          <a:prstGeom prst="rect">
            <a:avLst/>
          </a:prstGeom>
          <a:solidFill>
            <a:srgbClr val="E0E0E0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017520"/>
            <a:ext cx="3383280" cy="2926080"/>
          </a:xfrm>
          <a:prstGeom prst="rect">
            <a:avLst/>
          </a:prstGeom>
          <a:solidFill>
            <a:srgbClr val="F8F8F8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200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2D2D"/>
                </a:solidFill>
                <a:latin typeface="Arial"/>
              </a:defRPr>
            </a:pPr>
            <a:r>
              <a:t>5–10ч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  <a:latin typeface="Courier New"/>
              </a:defRPr>
            </a:pPr>
            <a:r>
              <a:t>ВРЕМЯ НА ПЛАН</a:t>
            </a:r>
            <a:br/>
            <a:r>
              <a:t>(КОРОТКИЕ)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ourier New"/>
              </a:defRPr>
            </a:pPr>
            <a:r>
              <a:t>На планирование одной</a:t>
            </a:r>
            <a:br/>
            <a:r>
              <a:t>поездки до 10 дней.</a:t>
            </a:r>
            <a:br/>
            <a:r>
              <a:t>Длинные — до 30ч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063240"/>
            <a:ext cx="3383280" cy="2926080"/>
          </a:xfrm>
          <a:prstGeom prst="rect">
            <a:avLst/>
          </a:prstGeom>
          <a:solidFill>
            <a:srgbClr val="E0E0E0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017520"/>
            <a:ext cx="3383280" cy="2926080"/>
          </a:xfrm>
          <a:prstGeom prst="rect">
            <a:avLst/>
          </a:prstGeom>
          <a:solidFill>
            <a:srgbClr val="F8F8F8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2004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2D2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9319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88888"/>
                </a:solidFill>
                <a:latin typeface="Courier New"/>
              </a:defRPr>
            </a:pPr>
            <a:r>
              <a:t>AI-ПОМОЩНИКОВ</a:t>
            </a:r>
            <a:br/>
            <a:r>
              <a:t>НА РУССКОМ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444"/>
                </a:solidFill>
                <a:latin typeface="Courier New"/>
              </a:defRPr>
            </a:pPr>
            <a:r>
              <a:t>Ни одного travel planner</a:t>
            </a:r>
            <a:br/>
            <a:r>
              <a:t>на русском с AI и</a:t>
            </a:r>
            <a:br/>
            <a:r>
              <a:t>персонализацией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0A0A0A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02 /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8F8"/>
                </a:solidFill>
                <a:latin typeface="Arial"/>
              </a:defRPr>
            </a:pPr>
            <a:r>
              <a:t>ВЕСЬ ТРИП —</a:t>
            </a:r>
            <a:br/>
            <a:r>
              <a:t>В ОДНОМ ПРИЛОЖЕНИИ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3383280" cy="2926080"/>
          </a:xfrm>
          <a:prstGeom prst="rect">
            <a:avLst/>
          </a:prstGeom>
          <a:solidFill>
            <a:srgbClr val="1A1A1A"/>
          </a:solidFill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8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Arial"/>
              </a:defRPr>
            </a:pPr>
            <a:r>
              <a:t>ПЛАНИРОВАНИЕ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Мульти-трип. День за днём:</a:t>
            </a:r>
            <a:br/>
            <a:r>
              <a:t>места, события, расходы.</a:t>
            </a:r>
            <a:br/>
            <a:r>
              <a:t>Drag-and-drop. Bucket list.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017520"/>
            <a:ext cx="3383280" cy="2926080"/>
          </a:xfrm>
          <a:prstGeom prst="rect">
            <a:avLst/>
          </a:prstGeom>
          <a:solidFill>
            <a:srgbClr val="1A1A1A"/>
          </a:solidFill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8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Arial"/>
              </a:defRPr>
            </a:pPr>
            <a:r>
              <a:t>AI-МОЗГ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297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AI-генератор маршрутов.</a:t>
            </a:r>
            <a:br/>
            <a:r>
              <a:t>Персональные рекомендации.</a:t>
            </a:r>
            <a:br/>
            <a:r>
              <a:t>OCR + парсинг почты.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017520"/>
            <a:ext cx="3383280" cy="2926080"/>
          </a:xfrm>
          <a:prstGeom prst="rect">
            <a:avLst/>
          </a:prstGeom>
          <a:solidFill>
            <a:srgbClr val="1A1A1A"/>
          </a:solidFill>
          <a:ln w="381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8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Arial"/>
              </a:defRPr>
            </a:pPr>
            <a:r>
              <a:t>В ПОЕЗДКЕ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Live Activity. Погода.</a:t>
            </a:r>
            <a:br/>
            <a:r>
              <a:t>Валюта. AR-навигация.</a:t>
            </a:r>
            <a:br/>
            <a:r>
              <a:t>Офлайн-карты. Журнал.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12648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35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Мульти-трип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612648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6135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AI Trip Generator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612648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6135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Flight tracking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199" y="612648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39" y="6135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OCR бронирований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612648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613562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Aviasales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644652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6455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Offline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26080" y="644652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6455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AR навигация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20640" y="644652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12080" y="6455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Dynamic Island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199" y="644652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39" y="6455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Supabase Sync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09760" y="6446520"/>
            <a:ext cx="2011680" cy="256032"/>
          </a:xfrm>
          <a:prstGeom prst="rect">
            <a:avLst/>
          </a:prstGeom>
          <a:solidFill>
            <a:srgbClr val="0A0A0A"/>
          </a:solidFill>
          <a:ln w="254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0" y="64556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8F8F8"/>
                </a:solidFill>
                <a:latin typeface="Courier New"/>
              </a:defRPr>
            </a:pPr>
            <a:r>
              <a:t>Email Scanner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102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108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114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132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138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0" presetClass="entr" presetSubtype="0" fill="hold" nodeType="afterEffect">
                            <p:stCondLst>
                              <p:cond delay="144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8F8F8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03 /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0A0A"/>
                </a:solidFill>
                <a:latin typeface="Arial"/>
              </a:defRPr>
            </a:pPr>
            <a:r>
              <a:t>РАЗМЕР РЫНКА TRAVEL 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51560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ГЛОБАЛЬНЫЙ РЫНОК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Arial"/>
              </a:defRPr>
            </a:pPr>
            <a:r>
              <a:t>1.4B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PAM — МЕЖДУНАРОДНЫЕ</a:t>
            </a:r>
            <a:br/>
            <a:r>
              <a:t>ПУТЕШЕСТВЕННИКИ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46888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D2D"/>
                </a:solidFill>
                <a:latin typeface="Arial"/>
              </a:defRPr>
            </a:pPr>
            <a:r>
              <a:t>$14.5B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TAM — TRAVEL</a:t>
            </a:r>
            <a:br/>
            <a:r>
              <a:t>PLANNING APPS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46888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Arial"/>
              </a:defRPr>
            </a:pPr>
            <a:r>
              <a:t>$3.2B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SAM — ITINERARY</a:t>
            </a:r>
            <a:br/>
            <a:r>
              <a:t>СЕГМЕНТ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46888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D2D"/>
                </a:solidFill>
                <a:latin typeface="Arial"/>
              </a:defRPr>
            </a:pPr>
            <a:r>
              <a:t>$1.55M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3337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SOM 5 ЛЕТ —</a:t>
            </a:r>
            <a:br/>
            <a:r>
              <a:t>50K ПЛАТЯЩИХ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4206240"/>
            <a:ext cx="1051560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РОССИЯ + СНГ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57200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Arial"/>
              </a:defRPr>
            </a:pPr>
            <a:r>
              <a:t>42M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РОССИЯН</a:t>
            </a:r>
            <a:br/>
            <a:r>
              <a:t>ПУТЕШЕСТВУЮТ В ГОД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83280" y="457200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6616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D2D"/>
                </a:solidFill>
                <a:latin typeface="Arial"/>
              </a:defRPr>
            </a:pPr>
            <a:r>
              <a:t>10M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6616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SAM — TECH-SAVVY</a:t>
            </a:r>
            <a:br/>
            <a:r>
              <a:t>ПЛАНИРОВЩИКИ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35040" y="457200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1792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Arial"/>
              </a:defRPr>
            </a:pPr>
            <a:r>
              <a:t>$9.3M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1792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SAM ПО ВЫРУЧКЕ</a:t>
            </a:r>
            <a:br/>
            <a:r>
              <a:t>(3% × $31/ГОД)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86800" y="457200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869680" y="4754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66"/>
                </a:solidFill>
                <a:latin typeface="Arial"/>
              </a:defRPr>
            </a:pPr>
            <a:r>
              <a:t>18%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696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CAGR РОСТА</a:t>
            </a:r>
            <a:br/>
            <a:r>
              <a:t>РЫНКА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0" presetClass="entr" presetSubtype="0" fill="hold" nodeType="afterEffect">
                            <p:stCondLst>
                              <p:cond delay="115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7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afterEffect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7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presetID="10" presetClass="entr" presetSubtype="0" fill="hold" nodeType="after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afterEffect">
                            <p:stCondLst>
                              <p:cond delay="135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10" presetClass="entr" presetSubtype="0" fill="hold" nodeType="afterEffect">
                            <p:stCondLst>
                              <p:cond delay="145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presetID="10" presetClass="entr" presetSubtype="0" fill="hold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500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presetID="10" presetClass="entr" presetSubtype="0" fill="hold" nodeType="afterEffect">
                            <p:stCondLst>
                              <p:cond delay="155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0" dur="500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presetID="10" presetClass="entr" presetSubtype="0" fill="hold" nodeType="afterEffect">
                            <p:stCondLst>
                              <p:cond delay="165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500"/>
                                  <p:tgtEl>
                                    <p:spTgt spid="1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presetID="10" presetClass="entr" presetSubtype="0" fill="hold" nodeType="afterEffect">
                            <p:stCondLst>
                              <p:cond delay="1600"/>
                            </p:stCondLst>
                            <p:childTnLst>
                              <p:set>
                                <p:cBhvr>
                                  <p:cTn id="1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2" dur="500"/>
                                  <p:tgtEl>
                                    <p:spTgt spid="1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presetID="10" presetClass="entr" presetSubtype="0" fill="hold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1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8" dur="500"/>
                                  <p:tgtEl>
                                    <p:spTgt spid="1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presetID="10" presetClass="entr" presetSubtype="0" fill="hold" nodeType="afterEffect">
                            <p:stCondLst>
                              <p:cond delay="185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4" dur="500"/>
                                  <p:tgtEl>
                                    <p:spTgt spid="1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0A0A0A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04 /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8F8"/>
                </a:solidFill>
                <a:latin typeface="Arial"/>
              </a:defRPr>
            </a:pPr>
            <a:r>
              <a:t>35+ ФИЧЕЙ ГОТОВЫ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Мульти-трип менеджмент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AI рекомендации (Gemini)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AI Trip Generator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Flight tracking + OCR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Погода + Валюта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21031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3774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Packing list +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Offline-режим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9152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80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Live Activities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1104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70832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Supabase Auth + Sync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63056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4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Bucket list + POI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65008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4736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AR навигация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966960" y="34747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76688" y="3749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Email Scanner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Travel Stats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59152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468880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Dual Timezone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61104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70832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Today's Schedule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63056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72784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Travel Journal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65008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74736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Drag &amp; Drop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966960" y="4846320"/>
            <a:ext cx="1783080" cy="11430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076688" y="5120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8F8"/>
                </a:solidFill>
                <a:latin typeface="Courier New"/>
              </a:defRPr>
            </a:pPr>
            <a:r>
              <a:t>Smart Geofence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1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22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46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58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6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6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0" presetClass="entr" presetSubtype="0" fill="hold" nodeType="afterEffect">
                            <p:stCondLst>
                              <p:cond delay="8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presetID="10" presetClass="entr" presetSubtype="0" fill="hold" nodeType="afterEffect">
                            <p:stCondLst>
                              <p:cond delay="94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after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presetID="10" presetClass="entr" presetSubtype="0" fill="hold" nodeType="afterEffect">
                            <p:stCondLst>
                              <p:cond delay="1060"/>
                            </p:stCondLst>
                            <p:childTnLst>
                              <p:set>
                                <p:cBhvr>
                                  <p:cTn id="10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8" dur="500"/>
                                  <p:tgtEl>
                                    <p:spTgt spid="10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presetID="10" presetClass="entr" presetSubtype="0" fill="hold" nodeType="afterEffect">
                            <p:stCondLst>
                              <p:cond delay="112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4" dur="500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8F8F8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05 /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0A0A"/>
                </a:solidFill>
                <a:latin typeface="Arial"/>
              </a:defRPr>
            </a:pPr>
            <a:r>
              <a:t>АРХИТЕКТУРА В ЦИФРАХ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66"/>
                </a:solidFill>
                <a:latin typeface="Arial"/>
              </a:defRPr>
            </a:pPr>
            <a:r>
              <a:t>27+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СЕССИЙ</a:t>
            </a:r>
            <a:br/>
            <a:r>
              <a:t>РАЗРАБОТКИ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10312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D2D"/>
                </a:solidFill>
                <a:latin typeface="Arial"/>
              </a:defRPr>
            </a:pPr>
            <a:r>
              <a:t>35+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ФИЧЕЙ</a:t>
            </a:r>
            <a:br/>
            <a:r>
              <a:t>ГОТОВО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60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ТАБЛИЦ БД</a:t>
            </a:r>
            <a:br/>
            <a:r>
              <a:t>+ RLS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API ЧЕРЕЗ</a:t>
            </a:r>
            <a:br/>
            <a:r>
              <a:t>ПРОКСИ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FRONTEND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0" y="3895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Arial"/>
              </a:defRPr>
            </a:pPr>
            <a:r>
              <a:t>SwiftUI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urier New"/>
              </a:defRPr>
            </a:pPr>
            <a:r>
              <a:t>iOS 26, Glassmorphism UI, 6 палитр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" y="4370832"/>
            <a:ext cx="10515600" cy="457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0" y="4443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STORAGE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425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Arial"/>
              </a:defRPr>
            </a:pPr>
            <a:r>
              <a:t>SwiftData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0" y="4462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urier New"/>
              </a:defRPr>
            </a:pPr>
            <a:r>
              <a:t>Offline-first, CoreData replacement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520" y="4901184"/>
            <a:ext cx="10515600" cy="457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" y="4974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BACKEND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Arial"/>
              </a:defRPr>
            </a:pPr>
            <a:r>
              <a:t>Supabase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49926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urier New"/>
              </a:defRPr>
            </a:pPr>
            <a:r>
              <a:t>Auth + DB + Storage + Edge Functions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431536"/>
            <a:ext cx="10515600" cy="457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4400" y="5504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AI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432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Arial"/>
              </a:defRPr>
            </a:pPr>
            <a:r>
              <a:t>Gemini 2.5 Flash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0" y="5522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urier New"/>
              </a:defRPr>
            </a:pPr>
            <a:r>
              <a:t>Через облачный прокси, работает из РФ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1520" y="5961888"/>
            <a:ext cx="10515600" cy="457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14400" y="6035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INTEGRATIONS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0" y="6016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  <a:latin typeface="Arial"/>
              </a:defRPr>
            </a:pPr>
            <a:r>
              <a:t>Travelpayouts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0" y="6053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urier New"/>
              </a:defRPr>
            </a:pPr>
            <a:r>
              <a:t>Aviasales рейсы + Hotellook отели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500"/>
                                  <p:tgtEl>
                                    <p:spTgt spid="7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0" presetClass="entr" presetSubtype="0" fill="hold" nodeType="afterEffect">
                            <p:stCondLst>
                              <p:cond delay="102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500"/>
                                  <p:tgtEl>
                                    <p:spTgt spid="7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afterEffect">
                            <p:stCondLst>
                              <p:cond delay="114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500"/>
                                  <p:tgtEl>
                                    <p:spTgt spid="8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presetID="10" presetClass="entr" presetSubtype="0" fill="hold" nodeType="afterEffect">
                            <p:stCondLst>
                              <p:cond delay="126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presetID="10" presetClass="entr" presetSubtype="0" fill="hold" nodeType="afterEffect">
                            <p:stCondLst>
                              <p:cond delay="1380"/>
                            </p:stCondLst>
                            <p:childTnLst>
                              <p:set>
                                <p:cBhvr>
                                  <p:cTn id="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" dur="500"/>
                                  <p:tgtEl>
                                    <p:spTgt spid="9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0A0A0A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06 / МОНЕТИЗАЦИЯ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8F8"/>
                </a:solidFill>
                <a:latin typeface="Arial"/>
              </a:defRPr>
            </a:pPr>
            <a:r>
              <a:t>FREEMIUM B2C + B2B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2651760" cy="3840480"/>
          </a:xfrm>
          <a:prstGeom prst="rect">
            <a:avLst/>
          </a:prstGeom>
          <a:solidFill>
            <a:srgbClr val="1A1A1A"/>
          </a:solidFill>
          <a:ln w="381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51760" cy="1280160"/>
          </a:xfrm>
          <a:prstGeom prst="rect">
            <a:avLst/>
          </a:prstGeom>
          <a:solidFill>
            <a:srgbClr val="0A0A0A"/>
          </a:solidFill>
          <a:ln w="381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8F8"/>
                </a:solidFill>
                <a:latin typeface="Arial"/>
              </a:defRPr>
            </a:pPr>
            <a:r>
              <a:t>0₽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3 поездки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Базовый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0060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Онлайн-режим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286000"/>
            <a:ext cx="2651760" cy="3840480"/>
          </a:xfrm>
          <a:prstGeom prst="rect">
            <a:avLst/>
          </a:prstGeom>
          <a:solidFill>
            <a:srgbClr val="1A1A1A"/>
          </a:solidFill>
          <a:ln w="381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2651760" cy="1280160"/>
          </a:xfrm>
          <a:prstGeom prst="rect">
            <a:avLst/>
          </a:prstGeom>
          <a:solidFill>
            <a:srgbClr val="FF2D2D"/>
          </a:solidFill>
          <a:ln w="381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8F8"/>
                </a:solidFill>
                <a:latin typeface="Arial"/>
              </a:defRPr>
            </a:pPr>
            <a:r>
              <a:t>349₽/мес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79476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Безлимит поездок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29768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Полный AI + 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80060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Офлайн + Sync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86000"/>
            <a:ext cx="2651760" cy="3840480"/>
          </a:xfrm>
          <a:prstGeom prst="rect">
            <a:avLst/>
          </a:prstGeom>
          <a:solidFill>
            <a:srgbClr val="1A1A1A"/>
          </a:solidFill>
          <a:ln w="381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286000"/>
            <a:ext cx="2651760" cy="1280160"/>
          </a:xfrm>
          <a:prstGeom prst="rect">
            <a:avLst/>
          </a:prstGeom>
          <a:solidFill>
            <a:srgbClr val="0A0A0A"/>
          </a:solidFill>
          <a:ln w="381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ГОДОВОЙ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8F8"/>
                </a:solidFill>
                <a:latin typeface="Arial"/>
              </a:defRPr>
            </a:pPr>
            <a:r>
              <a:t>2 490₽/год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9476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Всё из Premium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9768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Скидка 40%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0060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Приоритетная поддержка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2286000"/>
            <a:ext cx="2651760" cy="3840480"/>
          </a:xfrm>
          <a:prstGeom prst="rect">
            <a:avLst/>
          </a:prstGeom>
          <a:solidFill>
            <a:srgbClr val="1A1A1A"/>
          </a:solidFill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2286000"/>
            <a:ext cx="2651760" cy="1280160"/>
          </a:xfrm>
          <a:prstGeom prst="rect">
            <a:avLst/>
          </a:prstGeom>
          <a:solidFill>
            <a:srgbClr val="0A0A0A"/>
          </a:solidFill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B2B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8F8"/>
                </a:solidFill>
                <a:latin typeface="Arial"/>
              </a:defRPr>
            </a:pPr>
            <a:r>
              <a:t>per-seat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79476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Корп. режим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429768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Админ-панель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4800600"/>
            <a:ext cx="2286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Отчёты + SSO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8F8F8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07 / 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0A0A"/>
                </a:solidFill>
                <a:latin typeface="Arial"/>
              </a:defRPr>
            </a:pPr>
            <a:r>
              <a:t>ЮНИТ-ЭКОНОМИКА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46888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2D2D"/>
                </a:solidFill>
                <a:latin typeface="Arial"/>
              </a:defRPr>
            </a:pPr>
            <a:r>
              <a:t>~120₽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CAC</a:t>
            </a:r>
            <a:br/>
            <a:r>
              <a:t>(ОРГАНИКА + ASA)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66"/>
                </a:solidFill>
                <a:latin typeface="Arial"/>
              </a:defRPr>
            </a:pPr>
            <a:r>
              <a:t>~1 400₽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LTV</a:t>
            </a:r>
            <a:br/>
            <a:r>
              <a:t>(12 МЕС RETENTION)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66"/>
                </a:solidFill>
                <a:latin typeface="Arial"/>
              </a:defRPr>
            </a:pPr>
            <a:r>
              <a:t>11.7x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LTV / CAC</a:t>
            </a:r>
            <a:br/>
            <a:r>
              <a:t>ЗДОРОВАЯ ЭКОНОМИКА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2103120"/>
            <a:ext cx="246888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8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2286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600"/>
                </a:solidFill>
                <a:latin typeface="Arial"/>
              </a:defRPr>
            </a:pPr>
            <a:r>
              <a:t>3%+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88888"/>
                </a:solidFill>
                <a:latin typeface="Courier New"/>
              </a:defRPr>
            </a:pPr>
            <a:r>
              <a:t>КОНВЕРСИЯ</a:t>
            </a:r>
            <a:br/>
            <a:r>
              <a:t>FREE → PREMIUM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RETENTION M1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4297680"/>
            <a:ext cx="9601200" cy="228600"/>
          </a:xfrm>
          <a:prstGeom prst="rect">
            <a:avLst/>
          </a:prstGeom>
          <a:solidFill>
            <a:srgbClr val="E0E0E0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4297680"/>
            <a:ext cx="3840480" cy="228600"/>
          </a:xfrm>
          <a:prstGeom prst="rect">
            <a:avLst/>
          </a:prstGeom>
          <a:solidFill>
            <a:srgbClr val="00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6988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AA44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RETENTION M12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5029200"/>
            <a:ext cx="9601200" cy="228600"/>
          </a:xfrm>
          <a:prstGeom prst="rect">
            <a:avLst/>
          </a:prstGeom>
          <a:solidFill>
            <a:srgbClr val="E0E0E0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" y="5029200"/>
            <a:ext cx="1440180" cy="228600"/>
          </a:xfrm>
          <a:prstGeom prst="rect">
            <a:avLst/>
          </a:prstGeom>
          <a:solidFill>
            <a:srgbClr val="CC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69880" y="5010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AA00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GROSS MARGIN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" y="5760720"/>
            <a:ext cx="9601200" cy="228600"/>
          </a:xfrm>
          <a:prstGeom prst="rect">
            <a:avLst/>
          </a:prstGeom>
          <a:solidFill>
            <a:srgbClr val="E0E0E0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31520" y="5760720"/>
            <a:ext cx="8161020" cy="22860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69880" y="57424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2D2D"/>
                </a:solidFill>
                <a:latin typeface="Arial"/>
              </a:defRPr>
            </a:pPr>
            <a:r>
              <a:t>85%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5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presetID="10" presetClass="entr" presetSubtype="0" fill="hold" nodeType="afterEffect">
                            <p:stCondLst>
                              <p:cond delay="9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5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presetID="10" presetClass="entr" presetSubtype="0" fill="hold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5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0" presetClass="entr" presetSubtype="0" fill="hold" nodeType="after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8" dur="800"/>
                                  <p:tgtEl>
                                    <p:spTgt spid="7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presetID="10" presetClass="entr" presetSubtype="0" fill="hold" nodeType="after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4" dur="800"/>
                                  <p:tgtEl>
                                    <p:spTgt spid="8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presetID="10" presetClass="entr" presetSubtype="0" fill="hold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0" dur="800"/>
                                  <p:tgtEl>
                                    <p:spTgt spid="8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0A0A0A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08 / РОАДМАП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8F8"/>
                </a:solidFill>
                <a:latin typeface="Arial"/>
              </a:defRPr>
            </a:pPr>
            <a:r>
              <a:t>27+ СЕССИЙ УЖЕ ПОЗАДИ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2194560"/>
            <a:ext cx="54864" cy="4297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331720"/>
            <a:ext cx="256032" cy="256032"/>
          </a:xfrm>
          <a:prstGeom prst="ellipse">
            <a:avLst/>
          </a:prstGeom>
          <a:solidFill>
            <a:srgbClr val="00FF66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2304288"/>
            <a:ext cx="1097280" cy="27432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2304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ГОТОВО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8F8"/>
                </a:solidFill>
                <a:latin typeface="Arial"/>
              </a:defRPr>
            </a:pPr>
            <a:r>
              <a:t>Core + Multi-trip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Сессии 1–12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3172968"/>
            <a:ext cx="256032" cy="256032"/>
          </a:xfrm>
          <a:prstGeom prst="ellipse">
            <a:avLst/>
          </a:prstGeom>
          <a:solidFill>
            <a:srgbClr val="00FF66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145536"/>
            <a:ext cx="1097280" cy="27432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1455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ГОТОВО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27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8F8"/>
                </a:solidFill>
                <a:latin typeface="Arial"/>
              </a:defRPr>
            </a:pPr>
            <a:r>
              <a:t>Advanced + Sync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172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Сессии 13–27</a:t>
            </a:r>
          </a:p>
        </p:txBody>
      </p:sp>
      <p:sp>
        <p:nvSpPr>
          <p:cNvPr id="25" name="Oval 24"/>
          <p:cNvSpPr/>
          <p:nvPr/>
        </p:nvSpPr>
        <p:spPr>
          <a:xfrm>
            <a:off x="1280160" y="4014216"/>
            <a:ext cx="256032" cy="256032"/>
          </a:xfrm>
          <a:prstGeom prst="ellipse">
            <a:avLst/>
          </a:prstGeom>
          <a:solidFill>
            <a:srgbClr val="FF2D2D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20240" y="3986784"/>
            <a:ext cx="1097280" cy="274320"/>
          </a:xfrm>
          <a:prstGeom prst="rect">
            <a:avLst/>
          </a:prstGeom>
          <a:solidFill>
            <a:srgbClr val="FF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867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ДАЛЕЕ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684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8F8"/>
                </a:solidFill>
                <a:latin typeface="Arial"/>
              </a:defRPr>
            </a:pPr>
            <a:r>
              <a:t>App Store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014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Мес 1–2</a:t>
            </a:r>
          </a:p>
        </p:txBody>
      </p:sp>
      <p:sp>
        <p:nvSpPr>
          <p:cNvPr id="37" name="Oval 36"/>
          <p:cNvSpPr/>
          <p:nvPr/>
        </p:nvSpPr>
        <p:spPr>
          <a:xfrm>
            <a:off x="1280160" y="4855464"/>
            <a:ext cx="256032" cy="256032"/>
          </a:xfrm>
          <a:prstGeom prst="ellipse">
            <a:avLst/>
          </a:prstGeom>
          <a:solidFill>
            <a:srgbClr val="FFD600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20240" y="4828032"/>
            <a:ext cx="1097280" cy="2743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65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РОСТ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8097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8F8"/>
                </a:solidFill>
                <a:latin typeface="Arial"/>
              </a:defRPr>
            </a:pPr>
            <a:r>
              <a:t>Growth + Retention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4855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Мес 3–6</a:t>
            </a:r>
          </a:p>
        </p:txBody>
      </p:sp>
      <p:sp>
        <p:nvSpPr>
          <p:cNvPr id="49" name="Oval 48"/>
          <p:cNvSpPr/>
          <p:nvPr/>
        </p:nvSpPr>
        <p:spPr>
          <a:xfrm>
            <a:off x="1280160" y="5696712"/>
            <a:ext cx="256032" cy="256032"/>
          </a:xfrm>
          <a:prstGeom prst="ellipse">
            <a:avLst/>
          </a:prstGeom>
          <a:solidFill>
            <a:srgbClr val="0066FF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20240" y="5669280"/>
            <a:ext cx="1097280" cy="27432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5669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A0A0A"/>
                </a:solidFill>
                <a:latin typeface="Courier New"/>
              </a:defRPr>
            </a:pPr>
            <a:r>
              <a:t>МАСШТАБ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650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8F8"/>
                </a:solidFill>
                <a:latin typeface="Arial"/>
              </a:defRPr>
            </a:pPr>
            <a:r>
              <a:t>Scale + B2B + 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696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Год 2–3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presetID="10" presetClass="entr" presetSubtype="0" fill="hold" nodeType="afterEffect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0" presetClass="entr" presetSubtype="0" fill="hold" nodeType="after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presetID="10" presetClass="entr" presetSubtype="0" fill="hold" nodeType="afterEffect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5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8F8F8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2377440" cy="3200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F8F8"/>
                </a:solidFill>
                <a:latin typeface="Courier New"/>
              </a:defRPr>
            </a:pPr>
            <a:r>
              <a:t>09 / РАУНД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A0A0A"/>
                </a:solidFill>
                <a:latin typeface="Arial"/>
              </a:defRPr>
            </a:pPr>
            <a:r>
              <a:t>ЗАПРАШИВАЕМЫЕ ИНВЕСТИЦИИ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5029200" cy="3840480"/>
          </a:xfrm>
          <a:prstGeom prst="rect">
            <a:avLst/>
          </a:prstGeom>
          <a:solidFill>
            <a:srgbClr val="E0E0E0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3840480"/>
          </a:xfrm>
          <a:prstGeom prst="rect">
            <a:avLst/>
          </a:prstGeom>
          <a:solidFill>
            <a:srgbClr val="F8F8F8"/>
          </a:solidFill>
          <a:ln w="38100">
            <a:solidFill>
              <a:srgbClr val="F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2D2D"/>
                </a:solidFill>
                <a:latin typeface="Arial"/>
              </a:defRPr>
            </a:pPr>
            <a:r>
              <a:t>₽2 000 000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88888"/>
                </a:solidFill>
                <a:latin typeface="Courier New"/>
              </a:defRPr>
            </a:pPr>
            <a:r>
              <a:t>PRE-SEED РАУНД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3657600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444444"/>
                </a:solidFill>
                <a:latin typeface="Courier New"/>
              </a:defRPr>
              <a:lnSpc>
                <a:spcPts val="1800"/>
              </a:lnSpc>
            </a:pPr>
            <a:r>
              <a:t>•  App Store запуск + скриншоты</a:t>
            </a:r>
          </a:p>
          <a:p>
            <a:pPr algn="l">
              <a:defRPr sz="1100">
                <a:solidFill>
                  <a:srgbClr val="444444"/>
                </a:solidFill>
                <a:latin typeface="Courier New"/>
              </a:defRPr>
              <a:lnSpc>
                <a:spcPts val="1800"/>
              </a:lnSpc>
            </a:pPr>
            <a:r>
              <a:t>•  Apple Search Ads (6 мес)</a:t>
            </a:r>
          </a:p>
          <a:p>
            <a:pPr algn="l">
              <a:defRPr sz="1100">
                <a:solidFill>
                  <a:srgbClr val="444444"/>
                </a:solidFill>
                <a:latin typeface="Courier New"/>
              </a:defRPr>
              <a:lnSpc>
                <a:spcPts val="1800"/>
              </a:lnSpc>
            </a:pPr>
            <a:r>
              <a:t>•  Серверы (Supabase Pro)</a:t>
            </a:r>
          </a:p>
          <a:p>
            <a:pPr algn="l">
              <a:defRPr sz="1100">
                <a:solidFill>
                  <a:srgbClr val="444444"/>
                </a:solidFill>
                <a:latin typeface="Courier New"/>
              </a:defRPr>
              <a:lnSpc>
                <a:spcPts val="1800"/>
              </a:lnSpc>
            </a:pPr>
            <a:r>
              <a:t>•  Дизайн + UX-аудит</a:t>
            </a:r>
          </a:p>
          <a:p>
            <a:pPr algn="l">
              <a:defRPr sz="1100">
                <a:solidFill>
                  <a:srgbClr val="444444"/>
                </a:solidFill>
                <a:latin typeface="Courier New"/>
              </a:defRPr>
              <a:lnSpc>
                <a:spcPts val="1800"/>
              </a:lnSpc>
            </a:pPr>
            <a:r>
              <a:t>•  Юр. лицо + Privacy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5029200" cy="3840480"/>
          </a:xfrm>
          <a:prstGeom prst="rect">
            <a:avLst/>
          </a:prstGeom>
          <a:solidFill>
            <a:srgbClr val="0A0A0A"/>
          </a:solidFill>
          <a:ln w="381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F66"/>
                </a:solidFill>
                <a:latin typeface="Arial"/>
              </a:defRPr>
            </a:pPr>
            <a:r>
              <a:t>ЦЕЛИ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3108960"/>
            <a:ext cx="3657600" cy="25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337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66"/>
                </a:solidFill>
                <a:latin typeface="Arial"/>
              </a:defRPr>
            </a:pPr>
            <a:r>
              <a:t>30K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364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загрузок за 6 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130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66"/>
                </a:solidFill>
                <a:latin typeface="Arial"/>
              </a:defRPr>
            </a:pPr>
            <a: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платящих (3% конверсия)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885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66"/>
                </a:solidFill>
                <a:latin typeface="Arial"/>
              </a:defRPr>
            </a:pPr>
            <a:r>
              <a:t>₽315K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3159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MRR к месяцу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640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66"/>
                </a:solidFill>
                <a:latin typeface="Arial"/>
              </a:defRPr>
            </a:pPr>
            <a:r>
              <a:t>₽3.8M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7914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ARR к году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395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66"/>
                </a:solidFill>
                <a:latin typeface="Arial"/>
              </a:defRPr>
            </a:pPr>
            <a:r>
              <a:t>10x+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52669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LTV/CAC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6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solidFill>
        <a:srgbClr val="FF2D2D"/>
      </a:solid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8F8F8"/>
                </a:solidFill>
                <a:latin typeface="Arial"/>
              </a:defRPr>
            </a:pPr>
            <a:r>
              <a:t>ULTIMA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A0A0A"/>
                </a:solidFill>
                <a:latin typeface="Arial"/>
              </a:defRPr>
            </a:pPr>
            <a:r>
              <a:t>THULE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8F8"/>
                </a:solidFill>
                <a:latin typeface="Courier New"/>
              </a:defRPr>
            </a:pPr>
            <a:r>
              <a:t>Давайте строить будущее путешествий вместе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029200"/>
            <a:ext cx="4846320" cy="25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2120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F8F8"/>
                </a:solidFill>
                <a:latin typeface="Courier New"/>
              </a:defRPr>
            </a:pPr>
            <a:r>
              <a:t>t.me/egorgalkin  •  github.com/russiankendricklamar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5852160"/>
            <a:ext cx="3931920" cy="548640"/>
          </a:xfrm>
          <a:prstGeom prst="rect">
            <a:avLst/>
          </a:prstGeom>
          <a:solidFill>
            <a:srgbClr val="F8F8F8"/>
          </a:solidFill>
          <a:ln w="381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587044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Courier New"/>
              </a:defRPr>
            </a:pPr>
            <a:r>
              <a:t>СВЯЗАТЬСЯ С НАМИ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presetID="10" presetClass="entr" presetSubtype="0" fill="hold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presetID="10" presetClass="entr" presetSubtype="0" fill="hold" nodeType="afterEffect">
                            <p:stCondLst>
                              <p:cond delay="9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